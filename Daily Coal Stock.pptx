
<file path=[Content_Types].xml><?xml version="1.0" encoding="utf-8"?>
<Types xmlns="http://schemas.openxmlformats.org/package/2006/content-types">
  <Default Extension="jpeg" ContentType="image/jpeg"/>
  <Default Extension="jp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sldIdLst>
    <p:sldId id="256" r:id="rId2"/>
    <p:sldId id="258" r:id="rId3"/>
    <p:sldId id="257" r:id="rId4"/>
    <p:sldId id="260" r:id="rId5"/>
    <p:sldId id="267" r:id="rId6"/>
    <p:sldId id="261" r:id="rId7"/>
    <p:sldId id="265" r:id="rId8"/>
    <p:sldId id="262" r:id="rId9"/>
    <p:sldId id="270" r:id="rId10"/>
    <p:sldId id="263" r:id="rId11"/>
    <p:sldId id="266" r:id="rId12"/>
    <p:sldId id="264" r:id="rId13"/>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995" autoAdjust="0"/>
    <p:restoredTop sz="94660"/>
  </p:normalViewPr>
  <p:slideViewPr>
    <p:cSldViewPr snapToGrid="0">
      <p:cViewPr varScale="1">
        <p:scale>
          <a:sx n="62" d="100"/>
          <a:sy n="62" d="100"/>
        </p:scale>
        <p:origin x="828" y="44"/>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viewProps" Target="view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presProps" Target="pres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2417779" y="802298"/>
            <a:ext cx="8637073" cy="2541431"/>
          </a:xfrm>
        </p:spPr>
        <p:txBody>
          <a:bodyPr bIns="0" anchor="b">
            <a:normAutofit/>
          </a:bodyPr>
          <a:lstStyle>
            <a:lvl1pPr algn="l">
              <a:defRPr sz="6600"/>
            </a:lvl1pPr>
          </a:lstStyle>
          <a:p>
            <a:r>
              <a:rPr lang="en-US"/>
              <a:t>Click to edit Master title style</a:t>
            </a:r>
            <a:endParaRPr lang="en-US" dirty="0"/>
          </a:p>
        </p:txBody>
      </p:sp>
      <p:sp>
        <p:nvSpPr>
          <p:cNvPr id="3" name="Subtitle 2"/>
          <p:cNvSpPr>
            <a:spLocks noGrp="1"/>
          </p:cNvSpPr>
          <p:nvPr>
            <p:ph type="subTitle" idx="1"/>
          </p:nvPr>
        </p:nvSpPr>
        <p:spPr>
          <a:xfrm>
            <a:off x="2417780" y="3531204"/>
            <a:ext cx="8637072" cy="977621"/>
          </a:xfrm>
        </p:spPr>
        <p:txBody>
          <a:bodyPr tIns="91440" bIns="91440">
            <a:normAutofit/>
          </a:bodyPr>
          <a:lstStyle>
            <a:lvl1pPr marL="0" indent="0" algn="l">
              <a:buNone/>
              <a:defRPr sz="1800" b="0" cap="all" baseline="0">
                <a:solidFill>
                  <a:schemeClr val="tx1"/>
                </a:solidFill>
              </a:defRPr>
            </a:lvl1pPr>
            <a:lvl2pPr marL="457200" indent="0" algn="ctr">
              <a:buNone/>
              <a:defRPr sz="18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5CB2C129-46EF-415A-8B6C-4F4D5ABF03AB}" type="datetimeFigureOut">
              <a:rPr lang="en-IN" smtClean="0"/>
              <a:t>08-01-2026</a:t>
            </a:fld>
            <a:endParaRPr lang="en-IN"/>
          </a:p>
        </p:txBody>
      </p:sp>
      <p:sp>
        <p:nvSpPr>
          <p:cNvPr id="5" name="Footer Placeholder 4"/>
          <p:cNvSpPr>
            <a:spLocks noGrp="1"/>
          </p:cNvSpPr>
          <p:nvPr>
            <p:ph type="ftr" sz="quarter" idx="11"/>
          </p:nvPr>
        </p:nvSpPr>
        <p:spPr>
          <a:xfrm>
            <a:off x="2416500" y="329307"/>
            <a:ext cx="4973915" cy="309201"/>
          </a:xfrm>
        </p:spPr>
        <p:txBody>
          <a:bodyPr/>
          <a:lstStyle/>
          <a:p>
            <a:endParaRPr lang="en-IN"/>
          </a:p>
        </p:txBody>
      </p:sp>
      <p:sp>
        <p:nvSpPr>
          <p:cNvPr id="6" name="Slide Number Placeholder 5"/>
          <p:cNvSpPr>
            <a:spLocks noGrp="1"/>
          </p:cNvSpPr>
          <p:nvPr>
            <p:ph type="sldNum" sz="quarter" idx="12"/>
          </p:nvPr>
        </p:nvSpPr>
        <p:spPr>
          <a:xfrm>
            <a:off x="1437664" y="798973"/>
            <a:ext cx="811019" cy="503578"/>
          </a:xfrm>
        </p:spPr>
        <p:txBody>
          <a:bodyPr/>
          <a:lstStyle/>
          <a:p>
            <a:fld id="{BBC662FC-0B66-4642-AA91-F70E1121260E}" type="slidenum">
              <a:rPr lang="en-IN" smtClean="0"/>
              <a:t>‹#›</a:t>
            </a:fld>
            <a:endParaRPr lang="en-IN"/>
          </a:p>
        </p:txBody>
      </p:sp>
      <p:cxnSp>
        <p:nvCxnSpPr>
          <p:cNvPr id="15" name="Straight Connector 14"/>
          <p:cNvCxnSpPr/>
          <p:nvPr/>
        </p:nvCxnSpPr>
        <p:spPr>
          <a:xfrm>
            <a:off x="2417780" y="3528542"/>
            <a:ext cx="8637072"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149521238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5CB2C129-46EF-415A-8B6C-4F4D5ABF03AB}" type="datetimeFigureOut">
              <a:rPr lang="en-IN" smtClean="0"/>
              <a:t>08-01-2026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BBC662FC-0B66-4642-AA91-F70E1121260E}" type="slidenum">
              <a:rPr lang="en-IN" smtClean="0"/>
              <a:t>‹#›</a:t>
            </a:fld>
            <a:endParaRPr lang="en-IN"/>
          </a:p>
        </p:txBody>
      </p:sp>
      <p:cxnSp>
        <p:nvCxnSpPr>
          <p:cNvPr id="33" name="Straight Connector 32"/>
          <p:cNvCxnSpPr/>
          <p:nvPr/>
        </p:nvCxnSpPr>
        <p:spPr>
          <a:xfrm>
            <a:off x="1453896" y="1847088"/>
            <a:ext cx="9607522"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168826222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1454239" y="1756130"/>
            <a:ext cx="8643154" cy="1887950"/>
          </a:xfrm>
        </p:spPr>
        <p:txBody>
          <a:bodyPr anchor="b">
            <a:normAutofit/>
          </a:bodyPr>
          <a:lstStyle>
            <a:lvl1pPr algn="l">
              <a:defRPr sz="3600"/>
            </a:lvl1pPr>
          </a:lstStyle>
          <a:p>
            <a:r>
              <a:rPr lang="en-US"/>
              <a:t>Click to edit Master title style</a:t>
            </a:r>
            <a:endParaRPr lang="en-US" dirty="0"/>
          </a:p>
        </p:txBody>
      </p:sp>
      <p:sp>
        <p:nvSpPr>
          <p:cNvPr id="3" name="Text Placeholder 2"/>
          <p:cNvSpPr>
            <a:spLocks noGrp="1"/>
          </p:cNvSpPr>
          <p:nvPr>
            <p:ph type="body" idx="1"/>
          </p:nvPr>
        </p:nvSpPr>
        <p:spPr>
          <a:xfrm>
            <a:off x="1454239" y="3806195"/>
            <a:ext cx="8630446" cy="1012929"/>
          </a:xfrm>
        </p:spPr>
        <p:txBody>
          <a:bodyPr tIns="91440">
            <a:normAutofit/>
          </a:bodyPr>
          <a:lstStyle>
            <a:lvl1pPr marL="0" indent="0" algn="l">
              <a:buNone/>
              <a:defRPr sz="1800">
                <a:solidFill>
                  <a:schemeClr val="tx1"/>
                </a:solidFill>
              </a:defRPr>
            </a:lvl1pPr>
            <a:lvl2pPr marL="457200" indent="0">
              <a:buNone/>
              <a:defRPr sz="18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CB2C129-46EF-415A-8B6C-4F4D5ABF03AB}" type="datetimeFigureOut">
              <a:rPr lang="en-IN" smtClean="0"/>
              <a:t>08-01-2026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BBC662FC-0B66-4642-AA91-F70E1121260E}" type="slidenum">
              <a:rPr lang="en-IN" smtClean="0"/>
              <a:t>‹#›</a:t>
            </a:fld>
            <a:endParaRPr lang="en-IN"/>
          </a:p>
        </p:txBody>
      </p:sp>
      <p:cxnSp>
        <p:nvCxnSpPr>
          <p:cNvPr id="15" name="Straight Connector 14"/>
          <p:cNvCxnSpPr/>
          <p:nvPr/>
        </p:nvCxnSpPr>
        <p:spPr>
          <a:xfrm>
            <a:off x="1454239" y="3804985"/>
            <a:ext cx="8630446"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266210630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1449217" y="804889"/>
            <a:ext cx="9605635" cy="1059305"/>
          </a:xfrm>
        </p:spPr>
        <p:txBody>
          <a:bodyPr/>
          <a:lstStyle/>
          <a:p>
            <a:r>
              <a:rPr lang="en-US"/>
              <a:t>Click to edit Master title style</a:t>
            </a:r>
            <a:endParaRPr lang="en-US" dirty="0"/>
          </a:p>
        </p:txBody>
      </p:sp>
      <p:sp>
        <p:nvSpPr>
          <p:cNvPr id="3" name="Content Placeholder 2"/>
          <p:cNvSpPr>
            <a:spLocks noGrp="1"/>
          </p:cNvSpPr>
          <p:nvPr>
            <p:ph sz="half" idx="1"/>
          </p:nvPr>
        </p:nvSpPr>
        <p:spPr>
          <a:xfrm>
            <a:off x="1447331" y="2010878"/>
            <a:ext cx="4645152" cy="344859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413771" y="2017343"/>
            <a:ext cx="4645152" cy="344152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5CB2C129-46EF-415A-8B6C-4F4D5ABF03AB}" type="datetimeFigureOut">
              <a:rPr lang="en-IN" smtClean="0"/>
              <a:t>08-01-2026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BBC662FC-0B66-4642-AA91-F70E1121260E}" type="slidenum">
              <a:rPr lang="en-IN" smtClean="0"/>
              <a:t>‹#›</a:t>
            </a:fld>
            <a:endParaRPr lang="en-IN"/>
          </a:p>
        </p:txBody>
      </p:sp>
      <p:cxnSp>
        <p:nvCxnSpPr>
          <p:cNvPr id="35" name="Straight Connector 34"/>
          <p:cNvCxnSpPr/>
          <p:nvPr/>
        </p:nvCxnSpPr>
        <p:spPr>
          <a:xfrm>
            <a:off x="1453896" y="1847088"/>
            <a:ext cx="9607522"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16423092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1447191" y="804163"/>
            <a:ext cx="9607661" cy="1056319"/>
          </a:xfrm>
        </p:spPr>
        <p:txBody>
          <a:bodyPr/>
          <a:lstStyle/>
          <a:p>
            <a:r>
              <a:rPr lang="en-US"/>
              <a:t>Click to edit Master title style</a:t>
            </a:r>
            <a:endParaRPr lang="en-US" dirty="0"/>
          </a:p>
        </p:txBody>
      </p:sp>
      <p:sp>
        <p:nvSpPr>
          <p:cNvPr id="3" name="Text Placeholder 2"/>
          <p:cNvSpPr>
            <a:spLocks noGrp="1"/>
          </p:cNvSpPr>
          <p:nvPr>
            <p:ph type="body" idx="1"/>
          </p:nvPr>
        </p:nvSpPr>
        <p:spPr>
          <a:xfrm>
            <a:off x="1447191" y="2019549"/>
            <a:ext cx="4645152" cy="801943"/>
          </a:xfrm>
        </p:spPr>
        <p:txBody>
          <a:bodyPr anchor="b">
            <a:normAutofit/>
          </a:bodyPr>
          <a:lstStyle>
            <a:lvl1pPr marL="0" indent="0">
              <a:lnSpc>
                <a:spcPct val="100000"/>
              </a:lnSpc>
              <a:buNone/>
              <a:defRPr sz="2200" b="0" cap="all" baseline="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447191" y="2824269"/>
            <a:ext cx="4645152" cy="264445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412362" y="2023003"/>
            <a:ext cx="4645152" cy="802237"/>
          </a:xfrm>
        </p:spPr>
        <p:txBody>
          <a:bodyPr anchor="b">
            <a:normAutofit/>
          </a:bodyPr>
          <a:lstStyle>
            <a:lvl1pPr marL="0" indent="0">
              <a:lnSpc>
                <a:spcPct val="100000"/>
              </a:lnSpc>
              <a:buNone/>
              <a:defRPr sz="2200" b="0" cap="all" baseline="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412362" y="2821491"/>
            <a:ext cx="4645152" cy="263737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5CB2C129-46EF-415A-8B6C-4F4D5ABF03AB}" type="datetimeFigureOut">
              <a:rPr lang="en-IN" smtClean="0"/>
              <a:t>08-01-2026</a:t>
            </a:fld>
            <a:endParaRPr lang="en-IN"/>
          </a:p>
        </p:txBody>
      </p:sp>
      <p:sp>
        <p:nvSpPr>
          <p:cNvPr id="8" name="Footer Placeholder 7"/>
          <p:cNvSpPr>
            <a:spLocks noGrp="1"/>
          </p:cNvSpPr>
          <p:nvPr>
            <p:ph type="ftr" sz="quarter" idx="11"/>
          </p:nvPr>
        </p:nvSpPr>
        <p:spPr/>
        <p:txBody>
          <a:bodyPr/>
          <a:lstStyle/>
          <a:p>
            <a:endParaRPr lang="en-IN"/>
          </a:p>
        </p:txBody>
      </p:sp>
      <p:sp>
        <p:nvSpPr>
          <p:cNvPr id="9" name="Slide Number Placeholder 8"/>
          <p:cNvSpPr>
            <a:spLocks noGrp="1"/>
          </p:cNvSpPr>
          <p:nvPr>
            <p:ph type="sldNum" sz="quarter" idx="12"/>
          </p:nvPr>
        </p:nvSpPr>
        <p:spPr/>
        <p:txBody>
          <a:bodyPr/>
          <a:lstStyle/>
          <a:p>
            <a:fld id="{BBC662FC-0B66-4642-AA91-F70E1121260E}" type="slidenum">
              <a:rPr lang="en-IN" smtClean="0"/>
              <a:t>‹#›</a:t>
            </a:fld>
            <a:endParaRPr lang="en-IN"/>
          </a:p>
        </p:txBody>
      </p:sp>
      <p:cxnSp>
        <p:nvCxnSpPr>
          <p:cNvPr id="29" name="Straight Connector 28"/>
          <p:cNvCxnSpPr/>
          <p:nvPr/>
        </p:nvCxnSpPr>
        <p:spPr>
          <a:xfrm>
            <a:off x="1453896" y="1847088"/>
            <a:ext cx="9607522"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276814996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5CB2C129-46EF-415A-8B6C-4F4D5ABF03AB}" type="datetimeFigureOut">
              <a:rPr lang="en-IN" smtClean="0"/>
              <a:t>08-01-2026</a:t>
            </a:fld>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fld id="{BBC662FC-0B66-4642-AA91-F70E1121260E}" type="slidenum">
              <a:rPr lang="en-IN" smtClean="0"/>
              <a:t>‹#›</a:t>
            </a:fld>
            <a:endParaRPr lang="en-IN"/>
          </a:p>
        </p:txBody>
      </p:sp>
      <p:cxnSp>
        <p:nvCxnSpPr>
          <p:cNvPr id="25" name="Straight Connector 24"/>
          <p:cNvCxnSpPr/>
          <p:nvPr/>
        </p:nvCxnSpPr>
        <p:spPr>
          <a:xfrm>
            <a:off x="1453896" y="1847088"/>
            <a:ext cx="9607522"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411178487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CB2C129-46EF-415A-8B6C-4F4D5ABF03AB}" type="datetimeFigureOut">
              <a:rPr lang="en-IN" smtClean="0"/>
              <a:t>08-01-2026</a:t>
            </a:fld>
            <a:endParaRPr lang="en-IN"/>
          </a:p>
        </p:txBody>
      </p:sp>
      <p:sp>
        <p:nvSpPr>
          <p:cNvPr id="3" name="Footer Placeholder 2"/>
          <p:cNvSpPr>
            <a:spLocks noGrp="1"/>
          </p:cNvSpPr>
          <p:nvPr>
            <p:ph type="ftr" sz="quarter" idx="11"/>
          </p:nvPr>
        </p:nvSpPr>
        <p:spPr/>
        <p:txBody>
          <a:bodyPr/>
          <a:lstStyle/>
          <a:p>
            <a:endParaRPr lang="en-IN"/>
          </a:p>
        </p:txBody>
      </p:sp>
      <p:sp>
        <p:nvSpPr>
          <p:cNvPr id="4" name="Slide Number Placeholder 3"/>
          <p:cNvSpPr>
            <a:spLocks noGrp="1"/>
          </p:cNvSpPr>
          <p:nvPr>
            <p:ph type="sldNum" sz="quarter" idx="12"/>
          </p:nvPr>
        </p:nvSpPr>
        <p:spPr/>
        <p:txBody>
          <a:bodyPr/>
          <a:lstStyle/>
          <a:p>
            <a:fld id="{BBC662FC-0B66-4642-AA91-F70E1121260E}" type="slidenum">
              <a:rPr lang="en-IN" smtClean="0"/>
              <a:t>‹#›</a:t>
            </a:fld>
            <a:endParaRPr lang="en-IN"/>
          </a:p>
        </p:txBody>
      </p:sp>
    </p:spTree>
    <p:extLst>
      <p:ext uri="{BB962C8B-B14F-4D97-AF65-F5344CB8AC3E}">
        <p14:creationId xmlns:p14="http://schemas.microsoft.com/office/powerpoint/2010/main" val="319322021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444671" y="798973"/>
            <a:ext cx="3273099" cy="2247117"/>
          </a:xfrm>
        </p:spPr>
        <p:txBody>
          <a:bodyPr anchor="b">
            <a:normAutofit/>
          </a:bodyPr>
          <a:lstStyle>
            <a:lvl1pPr algn="l">
              <a:defRPr sz="2400"/>
            </a:lvl1pPr>
          </a:lstStyle>
          <a:p>
            <a:r>
              <a:rPr lang="en-US"/>
              <a:t>Click to edit Master title style</a:t>
            </a:r>
            <a:endParaRPr lang="en-US" dirty="0"/>
          </a:p>
        </p:txBody>
      </p:sp>
      <p:sp>
        <p:nvSpPr>
          <p:cNvPr id="3" name="Content Placeholder 2"/>
          <p:cNvSpPr>
            <a:spLocks noGrp="1"/>
          </p:cNvSpPr>
          <p:nvPr>
            <p:ph idx="1"/>
          </p:nvPr>
        </p:nvSpPr>
        <p:spPr>
          <a:xfrm>
            <a:off x="5043714" y="798974"/>
            <a:ext cx="6012470" cy="4658826"/>
          </a:xfrm>
        </p:spPr>
        <p:txBody>
          <a:bodyPr anchor="ct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1444671" y="3205491"/>
            <a:ext cx="3275013" cy="2248181"/>
          </a:xfrm>
        </p:spPr>
        <p:txBody>
          <a:bodyPr/>
          <a:lstStyle>
            <a:lvl1pPr marL="0" indent="0" algn="l">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5CB2C129-46EF-415A-8B6C-4F4D5ABF03AB}" type="datetimeFigureOut">
              <a:rPr lang="en-IN" smtClean="0"/>
              <a:t>08-01-2026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BBC662FC-0B66-4642-AA91-F70E1121260E}" type="slidenum">
              <a:rPr lang="en-IN" smtClean="0"/>
              <a:t>‹#›</a:t>
            </a:fld>
            <a:endParaRPr lang="en-IN"/>
          </a:p>
        </p:txBody>
      </p:sp>
      <p:cxnSp>
        <p:nvCxnSpPr>
          <p:cNvPr id="17" name="Straight Connector 16"/>
          <p:cNvCxnSpPr/>
          <p:nvPr/>
        </p:nvCxnSpPr>
        <p:spPr>
          <a:xfrm>
            <a:off x="1448280" y="3205491"/>
            <a:ext cx="3269490"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35352267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grpSp>
        <p:nvGrpSpPr>
          <p:cNvPr id="8" name="Group 7"/>
          <p:cNvGrpSpPr/>
          <p:nvPr/>
        </p:nvGrpSpPr>
        <p:grpSpPr>
          <a:xfrm>
            <a:off x="7477387" y="482170"/>
            <a:ext cx="4074533" cy="5149101"/>
            <a:chOff x="7477387" y="482170"/>
            <a:chExt cx="4074533" cy="5149101"/>
          </a:xfrm>
        </p:grpSpPr>
        <p:sp>
          <p:nvSpPr>
            <p:cNvPr id="18" name="Rectangle 17"/>
            <p:cNvSpPr/>
            <p:nvPr/>
          </p:nvSpPr>
          <p:spPr bwMode="black">
            <a:xfrm>
              <a:off x="7477387" y="482170"/>
              <a:ext cx="4074533" cy="5149101"/>
            </a:xfrm>
            <a:prstGeom prst="rect">
              <a:avLst/>
            </a:prstGeom>
            <a:gradFill>
              <a:gsLst>
                <a:gs pos="0">
                  <a:srgbClr val="000001"/>
                </a:gs>
                <a:gs pos="100000">
                  <a:srgbClr val="191919"/>
                </a:gs>
              </a:gsLst>
            </a:gradFill>
            <a:ln w="76200" cmpd="sng">
              <a:noFill/>
              <a:miter lim="800000"/>
            </a:ln>
            <a:effectLst>
              <a:outerShdw blurRad="127000" dist="228600" dir="4740000" sx="98000" sy="98000" algn="tl" rotWithShape="0">
                <a:srgbClr val="000000">
                  <a:alpha val="34000"/>
                </a:srgbClr>
              </a:outerShdw>
            </a:effectLst>
            <a:scene3d>
              <a:camera prst="orthographicFront"/>
              <a:lightRig rig="threePt" dir="t"/>
            </a:scene3d>
            <a:sp3d>
              <a:bevelT w="152400" h="50800" prst="softRound"/>
            </a:sp3d>
          </p:spPr>
          <p:style>
            <a:lnRef idx="1">
              <a:schemeClr val="accent1"/>
            </a:lnRef>
            <a:fillRef idx="3">
              <a:schemeClr val="accent1"/>
            </a:fillRef>
            <a:effectRef idx="2">
              <a:schemeClr val="accent1"/>
            </a:effectRef>
            <a:fontRef idx="minor">
              <a:schemeClr val="lt1"/>
            </a:fontRef>
          </p:style>
        </p:sp>
        <p:sp>
          <p:nvSpPr>
            <p:cNvPr id="19" name="Rectangle 18"/>
            <p:cNvSpPr/>
            <p:nvPr/>
          </p:nvSpPr>
          <p:spPr bwMode="blackWhite">
            <a:xfrm>
              <a:off x="7790446" y="812506"/>
              <a:ext cx="3450289" cy="4466452"/>
            </a:xfrm>
            <a:prstGeom prst="rect">
              <a:avLst/>
            </a:prstGeom>
            <a:gradFill>
              <a:gsLst>
                <a:gs pos="0">
                  <a:srgbClr val="DADADA"/>
                </a:gs>
                <a:gs pos="100000">
                  <a:srgbClr val="FFFFFE"/>
                </a:gs>
              </a:gsLst>
              <a:lin ang="16200000" scaled="0"/>
            </a:gradFill>
            <a:ln w="50800" cmpd="sng">
              <a:solidFill>
                <a:srgbClr val="191919"/>
              </a:solidFill>
              <a:miter lim="800000"/>
            </a:ln>
            <a:effectLst>
              <a:innerShdw blurRad="63500" dist="88900" dir="14100000">
                <a:srgbClr val="000000">
                  <a:alpha val="30000"/>
                </a:srgbClr>
              </a:innerShdw>
            </a:effectLst>
            <a:scene3d>
              <a:camera prst="orthographicFront"/>
              <a:lightRig rig="threePt" dir="t"/>
            </a:scene3d>
            <a:sp3d>
              <a:bevelT prst="relaxedInset"/>
            </a:sp3d>
          </p:spPr>
          <p:style>
            <a:lnRef idx="1">
              <a:schemeClr val="accent1"/>
            </a:lnRef>
            <a:fillRef idx="3">
              <a:schemeClr val="accent1"/>
            </a:fillRef>
            <a:effectRef idx="2">
              <a:schemeClr val="accent1"/>
            </a:effectRef>
            <a:fontRef idx="minor">
              <a:schemeClr val="lt1"/>
            </a:fontRef>
          </p:style>
        </p:sp>
      </p:grpSp>
      <p:sp>
        <p:nvSpPr>
          <p:cNvPr id="2" name="Title 1"/>
          <p:cNvSpPr>
            <a:spLocks noGrp="1"/>
          </p:cNvSpPr>
          <p:nvPr>
            <p:ph type="title"/>
          </p:nvPr>
        </p:nvSpPr>
        <p:spPr>
          <a:xfrm>
            <a:off x="1451206" y="1129513"/>
            <a:ext cx="5532328" cy="1830584"/>
          </a:xfrm>
        </p:spPr>
        <p:txBody>
          <a:bodyPr anchor="b">
            <a:normAutofit/>
          </a:bodyPr>
          <a:lstStyle>
            <a:lvl1pP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8124389" y="1122542"/>
            <a:ext cx="2791171" cy="3866327"/>
          </a:xfrm>
          <a:solidFill>
            <a:schemeClr val="bg1">
              <a:lumMod val="85000"/>
            </a:schemeClr>
          </a:solidFill>
          <a:ln w="9525" cap="sq">
            <a:noFill/>
            <a:miter lim="800000"/>
          </a:ln>
          <a:effectLst/>
        </p:spPr>
        <p:txBody>
          <a:bodyPr anchor="t"/>
          <a:lstStyle>
            <a:lvl1pPr marL="0" indent="0" algn="ctr">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1450329" y="3145992"/>
            <a:ext cx="5524404" cy="2003742"/>
          </a:xfrm>
        </p:spPr>
        <p:txBody>
          <a:bodyPr>
            <a:normAutofit/>
          </a:bodyPr>
          <a:lstStyle>
            <a:lvl1pPr marL="0" indent="0" algn="l">
              <a:buNone/>
              <a:defRPr sz="18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a:xfrm>
            <a:off x="1447382" y="5469856"/>
            <a:ext cx="5527351" cy="320123"/>
          </a:xfrm>
        </p:spPr>
        <p:txBody>
          <a:bodyPr/>
          <a:lstStyle>
            <a:lvl1pPr algn="l">
              <a:defRPr/>
            </a:lvl1pPr>
          </a:lstStyle>
          <a:p>
            <a:fld id="{5CB2C129-46EF-415A-8B6C-4F4D5ABF03AB}" type="datetimeFigureOut">
              <a:rPr lang="en-IN" smtClean="0"/>
              <a:t>08-01-2026</a:t>
            </a:fld>
            <a:endParaRPr lang="en-IN"/>
          </a:p>
        </p:txBody>
      </p:sp>
      <p:sp>
        <p:nvSpPr>
          <p:cNvPr id="6" name="Footer Placeholder 5"/>
          <p:cNvSpPr>
            <a:spLocks noGrp="1"/>
          </p:cNvSpPr>
          <p:nvPr>
            <p:ph type="ftr" sz="quarter" idx="11"/>
          </p:nvPr>
        </p:nvSpPr>
        <p:spPr>
          <a:xfrm>
            <a:off x="1447382" y="318640"/>
            <a:ext cx="5541004" cy="320931"/>
          </a:xfrm>
        </p:spPr>
        <p:txBody>
          <a:bodyPr/>
          <a:lstStyle/>
          <a:p>
            <a:endParaRPr lang="en-IN"/>
          </a:p>
        </p:txBody>
      </p:sp>
      <p:sp>
        <p:nvSpPr>
          <p:cNvPr id="7" name="Slide Number Placeholder 6"/>
          <p:cNvSpPr>
            <a:spLocks noGrp="1"/>
          </p:cNvSpPr>
          <p:nvPr>
            <p:ph type="sldNum" sz="quarter" idx="12"/>
          </p:nvPr>
        </p:nvSpPr>
        <p:spPr/>
        <p:txBody>
          <a:bodyPr/>
          <a:lstStyle/>
          <a:p>
            <a:fld id="{BBC662FC-0B66-4642-AA91-F70E1121260E}" type="slidenum">
              <a:rPr lang="en-IN" smtClean="0"/>
              <a:t>‹#›</a:t>
            </a:fld>
            <a:endParaRPr lang="en-IN"/>
          </a:p>
        </p:txBody>
      </p:sp>
      <p:cxnSp>
        <p:nvCxnSpPr>
          <p:cNvPr id="31" name="Straight Connector 30"/>
          <p:cNvCxnSpPr/>
          <p:nvPr/>
        </p:nvCxnSpPr>
        <p:spPr>
          <a:xfrm>
            <a:off x="1447382" y="3143605"/>
            <a:ext cx="5527351"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78380764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5CB2C129-46EF-415A-8B6C-4F4D5ABF03AB}" type="datetimeFigureOut">
              <a:rPr lang="en-IN" smtClean="0"/>
              <a:t>08-01-2026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BBC662FC-0B66-4642-AA91-F70E1121260E}" type="slidenum">
              <a:rPr lang="en-IN" smtClean="0"/>
              <a:t>‹#›</a:t>
            </a:fld>
            <a:endParaRPr lang="en-IN"/>
          </a:p>
        </p:txBody>
      </p:sp>
      <p:cxnSp>
        <p:nvCxnSpPr>
          <p:cNvPr id="26" name="Straight Connector 25"/>
          <p:cNvCxnSpPr/>
          <p:nvPr/>
        </p:nvCxnSpPr>
        <p:spPr>
          <a:xfrm>
            <a:off x="1453896" y="1847088"/>
            <a:ext cx="9607522"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141204324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9439111" y="798973"/>
            <a:ext cx="1615742" cy="4659889"/>
          </a:xfrm>
        </p:spPr>
        <p:txBody>
          <a:bodyPr vert="eaVert"/>
          <a:lstStyle>
            <a:lvl1pPr algn="l">
              <a:defRPr/>
            </a:lvl1pPr>
          </a:lstStyle>
          <a:p>
            <a:r>
              <a:rPr lang="en-US"/>
              <a:t>Click to edit Master title style</a:t>
            </a:r>
            <a:endParaRPr lang="en-US" dirty="0"/>
          </a:p>
        </p:txBody>
      </p:sp>
      <p:sp>
        <p:nvSpPr>
          <p:cNvPr id="3" name="Vertical Text Placeholder 2"/>
          <p:cNvSpPr>
            <a:spLocks noGrp="1"/>
          </p:cNvSpPr>
          <p:nvPr>
            <p:ph type="body" orient="vert" idx="1"/>
          </p:nvPr>
        </p:nvSpPr>
        <p:spPr>
          <a:xfrm>
            <a:off x="1444672" y="798973"/>
            <a:ext cx="7828830" cy="4659889"/>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5CB2C129-46EF-415A-8B6C-4F4D5ABF03AB}" type="datetimeFigureOut">
              <a:rPr lang="en-IN" smtClean="0"/>
              <a:t>08-01-2026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BBC662FC-0B66-4642-AA91-F70E1121260E}" type="slidenum">
              <a:rPr lang="en-IN" smtClean="0"/>
              <a:t>‹#›</a:t>
            </a:fld>
            <a:endParaRPr lang="en-IN"/>
          </a:p>
        </p:txBody>
      </p:sp>
      <p:cxnSp>
        <p:nvCxnSpPr>
          <p:cNvPr id="15" name="Straight Connector 14"/>
          <p:cNvCxnSpPr/>
          <p:nvPr/>
        </p:nvCxnSpPr>
        <p:spPr>
          <a:xfrm>
            <a:off x="9439111" y="798973"/>
            <a:ext cx="0" cy="4659889"/>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280180107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jp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sp>
        <p:nvSpPr>
          <p:cNvPr id="8" name="Rectangle 7"/>
          <p:cNvSpPr/>
          <p:nvPr/>
        </p:nvSpPr>
        <p:spPr>
          <a:xfrm>
            <a:off x="0" y="2019476"/>
            <a:ext cx="12192000" cy="4105941"/>
          </a:xfrm>
          <a:prstGeom prst="rect">
            <a:avLst/>
          </a:prstGeom>
          <a:gradFill flip="none" rotWithShape="1">
            <a:gsLst>
              <a:gs pos="0">
                <a:schemeClr val="bg2">
                  <a:alpha val="0"/>
                </a:schemeClr>
              </a:gs>
              <a:gs pos="100000">
                <a:schemeClr val="bg2"/>
              </a:gs>
            </a:gsLst>
            <a:lin ang="5400000" scaled="0"/>
            <a:tileRect/>
          </a:gradFill>
          <a:ln>
            <a:noFill/>
          </a:ln>
        </p:spPr>
        <p:style>
          <a:lnRef idx="2">
            <a:schemeClr val="accent1">
              <a:shade val="50000"/>
            </a:schemeClr>
          </a:lnRef>
          <a:fillRef idx="1">
            <a:schemeClr val="accent1"/>
          </a:fillRef>
          <a:effectRef idx="0">
            <a:schemeClr val="accent1"/>
          </a:effectRef>
          <a:fontRef idx="minor">
            <a:schemeClr val="lt1"/>
          </a:fontRef>
        </p:style>
      </p:sp>
      <p:pic>
        <p:nvPicPr>
          <p:cNvPr id="7" name="Picture 6"/>
          <p:cNvPicPr>
            <a:picLocks noChangeAspect="1"/>
          </p:cNvPicPr>
          <p:nvPr/>
        </p:nvPicPr>
        <p:blipFill rotWithShape="1">
          <a:blip r:embed="rId13">
            <a:extLst>
              <a:ext uri="{28A0092B-C50C-407E-A947-70E740481C1C}">
                <a14:useLocalDpi xmlns:a14="http://schemas.microsoft.com/office/drawing/2010/main" val="0"/>
              </a:ext>
            </a:extLst>
          </a:blip>
          <a:srcRect t="1538" b="-1538"/>
          <a:stretch/>
        </p:blipFill>
        <p:spPr bwMode="black">
          <a:xfrm>
            <a:off x="0" y="6126480"/>
            <a:ext cx="12192000" cy="742950"/>
          </a:xfrm>
          <a:prstGeom prst="rect">
            <a:avLst/>
          </a:prstGeom>
        </p:spPr>
      </p:pic>
      <p:sp>
        <p:nvSpPr>
          <p:cNvPr id="2" name="Title Placeholder 1"/>
          <p:cNvSpPr>
            <a:spLocks noGrp="1"/>
          </p:cNvSpPr>
          <p:nvPr>
            <p:ph type="title"/>
          </p:nvPr>
        </p:nvSpPr>
        <p:spPr>
          <a:xfrm>
            <a:off x="1451579" y="804519"/>
            <a:ext cx="9603275" cy="1049235"/>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2"/>
          <p:cNvSpPr>
            <a:spLocks noGrp="1"/>
          </p:cNvSpPr>
          <p:nvPr>
            <p:ph type="body" idx="1"/>
          </p:nvPr>
        </p:nvSpPr>
        <p:spPr>
          <a:xfrm>
            <a:off x="1451579" y="2015732"/>
            <a:ext cx="9603275" cy="345061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554138" y="330370"/>
            <a:ext cx="3500715" cy="309201"/>
          </a:xfrm>
          <a:prstGeom prst="rect">
            <a:avLst/>
          </a:prstGeom>
        </p:spPr>
        <p:txBody>
          <a:bodyPr vert="horz" lIns="91440" tIns="45720" rIns="91440" bIns="45720" rtlCol="0" anchor="ctr"/>
          <a:lstStyle>
            <a:lvl1pPr algn="r">
              <a:defRPr sz="1000">
                <a:solidFill>
                  <a:schemeClr val="tx1">
                    <a:tint val="75000"/>
                  </a:schemeClr>
                </a:solidFill>
              </a:defRPr>
            </a:lvl1pPr>
          </a:lstStyle>
          <a:p>
            <a:fld id="{5CB2C129-46EF-415A-8B6C-4F4D5ABF03AB}" type="datetimeFigureOut">
              <a:rPr lang="en-IN" smtClean="0"/>
              <a:t>08-01-2026</a:t>
            </a:fld>
            <a:endParaRPr lang="en-IN"/>
          </a:p>
        </p:txBody>
      </p:sp>
      <p:sp>
        <p:nvSpPr>
          <p:cNvPr id="5" name="Footer Placeholder 4"/>
          <p:cNvSpPr>
            <a:spLocks noGrp="1"/>
          </p:cNvSpPr>
          <p:nvPr>
            <p:ph type="ftr" sz="quarter" idx="3"/>
          </p:nvPr>
        </p:nvSpPr>
        <p:spPr>
          <a:xfrm>
            <a:off x="1451579" y="329307"/>
            <a:ext cx="5938836" cy="309201"/>
          </a:xfrm>
          <a:prstGeom prst="rect">
            <a:avLst/>
          </a:prstGeom>
        </p:spPr>
        <p:txBody>
          <a:bodyPr vert="horz" lIns="91440" tIns="45720" rIns="91440" bIns="45720" rtlCol="0" anchor="ctr"/>
          <a:lstStyle>
            <a:lvl1pPr algn="l">
              <a:defRPr sz="1000">
                <a:solidFill>
                  <a:schemeClr val="tx1">
                    <a:tint val="75000"/>
                  </a:schemeClr>
                </a:solidFill>
              </a:defRPr>
            </a:lvl1pPr>
          </a:lstStyle>
          <a:p>
            <a:endParaRPr lang="en-IN"/>
          </a:p>
        </p:txBody>
      </p:sp>
      <p:sp>
        <p:nvSpPr>
          <p:cNvPr id="6" name="Slide Number Placeholder 5"/>
          <p:cNvSpPr>
            <a:spLocks noGrp="1"/>
          </p:cNvSpPr>
          <p:nvPr>
            <p:ph type="sldNum" sz="quarter" idx="4"/>
          </p:nvPr>
        </p:nvSpPr>
        <p:spPr>
          <a:xfrm>
            <a:off x="480060" y="798973"/>
            <a:ext cx="811019" cy="503578"/>
          </a:xfrm>
          <a:prstGeom prst="rect">
            <a:avLst/>
          </a:prstGeom>
        </p:spPr>
        <p:txBody>
          <a:bodyPr vert="horz" lIns="91440" tIns="45720" rIns="91440" bIns="45720" rtlCol="0" anchor="t"/>
          <a:lstStyle>
            <a:lvl1pPr algn="r">
              <a:defRPr sz="2800">
                <a:solidFill>
                  <a:schemeClr val="accent1"/>
                </a:solidFill>
              </a:defRPr>
            </a:lvl1pPr>
          </a:lstStyle>
          <a:p>
            <a:fld id="{BBC662FC-0B66-4642-AA91-F70E1121260E}" type="slidenum">
              <a:rPr lang="en-IN" smtClean="0"/>
              <a:t>‹#›</a:t>
            </a:fld>
            <a:endParaRPr lang="en-IN"/>
          </a:p>
        </p:txBody>
      </p:sp>
      <p:cxnSp>
        <p:nvCxnSpPr>
          <p:cNvPr id="10" name="Straight Connector 9"/>
          <p:cNvCxnSpPr/>
          <p:nvPr/>
        </p:nvCxnSpPr>
        <p:spPr>
          <a:xfrm>
            <a:off x="0" y="6128413"/>
            <a:ext cx="12192000" cy="0"/>
          </a:xfrm>
          <a:prstGeom prst="line">
            <a:avLst/>
          </a:prstGeom>
          <a:ln w="12700">
            <a:solidFill>
              <a:srgbClr val="000001">
                <a:alpha val="20000"/>
              </a:srgb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670226106"/>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defTabSz="914400" rtl="0" eaLnBrk="1" latinLnBrk="0" hangingPunct="1">
        <a:lnSpc>
          <a:spcPct val="90000"/>
        </a:lnSpc>
        <a:spcBef>
          <a:spcPct val="0"/>
        </a:spcBef>
        <a:buNone/>
        <a:defRPr sz="3200" b="0" i="0" kern="1200" cap="all">
          <a:solidFill>
            <a:schemeClr val="tx1"/>
          </a:solidFill>
          <a:effectLst/>
          <a:latin typeface="+mj-lt"/>
          <a:ea typeface="+mj-ea"/>
          <a:cs typeface="+mj-cs"/>
        </a:defRPr>
      </a:lvl1pPr>
    </p:titleStyle>
    <p:bodyStyle>
      <a:lvl1pPr marL="228600" indent="-228600" algn="l" defTabSz="914400" rtl="0" eaLnBrk="1" latinLnBrk="0" hangingPunct="1">
        <a:lnSpc>
          <a:spcPct val="120000"/>
        </a:lnSpc>
        <a:spcBef>
          <a:spcPts val="1000"/>
        </a:spcBef>
        <a:buClr>
          <a:schemeClr val="accent1"/>
        </a:buClr>
        <a:buSzPct val="100000"/>
        <a:buFont typeface="Arial" panose="020B0604020202020204" pitchFamily="34" charset="0"/>
        <a:buChar char="•"/>
        <a:defRPr sz="2000" kern="1200">
          <a:solidFill>
            <a:schemeClr val="tx1"/>
          </a:solidFill>
          <a:effectLst/>
          <a:latin typeface="+mn-lt"/>
          <a:ea typeface="+mn-ea"/>
          <a:cs typeface="+mn-cs"/>
        </a:defRPr>
      </a:lvl1pPr>
      <a:lvl2pPr marL="6858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800" kern="1200" cap="none" baseline="0">
          <a:solidFill>
            <a:schemeClr val="tx1"/>
          </a:solidFill>
          <a:effectLst/>
          <a:latin typeface="+mn-lt"/>
          <a:ea typeface="+mn-ea"/>
          <a:cs typeface="+mn-cs"/>
        </a:defRPr>
      </a:lvl2pPr>
      <a:lvl3pPr marL="11430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600" kern="1200">
          <a:solidFill>
            <a:schemeClr val="tx1"/>
          </a:solidFill>
          <a:effectLst/>
          <a:latin typeface="+mn-lt"/>
          <a:ea typeface="+mn-ea"/>
          <a:cs typeface="+mn-cs"/>
        </a:defRPr>
      </a:lvl3pPr>
      <a:lvl4pPr marL="16002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400" kern="1200" cap="none" baseline="0">
          <a:solidFill>
            <a:schemeClr val="tx1"/>
          </a:solidFill>
          <a:effectLst/>
          <a:latin typeface="+mn-lt"/>
          <a:ea typeface="+mn-ea"/>
          <a:cs typeface="+mn-cs"/>
        </a:defRPr>
      </a:lvl4pPr>
      <a:lvl5pPr marL="20574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a:solidFill>
            <a:schemeClr val="tx1"/>
          </a:solidFill>
          <a:effectLst/>
          <a:latin typeface="+mn-lt"/>
          <a:ea typeface="+mn-ea"/>
          <a:cs typeface="+mn-cs"/>
        </a:defRPr>
      </a:lvl5pPr>
      <a:lvl6pPr marL="25146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a:solidFill>
            <a:schemeClr val="tx1"/>
          </a:solidFill>
          <a:effectLst/>
          <a:latin typeface="+mn-lt"/>
          <a:ea typeface="+mn-ea"/>
          <a:cs typeface="+mn-cs"/>
        </a:defRPr>
      </a:lvl6pPr>
      <a:lvl7pPr marL="29718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a:solidFill>
            <a:schemeClr val="tx1"/>
          </a:solidFill>
          <a:effectLst/>
          <a:latin typeface="+mn-lt"/>
          <a:ea typeface="+mn-ea"/>
          <a:cs typeface="+mn-cs"/>
        </a:defRPr>
      </a:lvl7pPr>
      <a:lvl8pPr marL="34290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baseline="0">
          <a:solidFill>
            <a:schemeClr val="tx1"/>
          </a:solidFill>
          <a:effectLst/>
          <a:latin typeface="+mn-lt"/>
          <a:ea typeface="+mn-ea"/>
          <a:cs typeface="+mn-cs"/>
        </a:defRPr>
      </a:lvl8pPr>
      <a:lvl9pPr marL="38862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baseline="0">
          <a:solidFill>
            <a:schemeClr val="tx1"/>
          </a:solidFill>
          <a:effectLst/>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hyperlink" Target="https://www.google.com/url?q=https%3A%2F%2Findiadataportal.com%2Fp%2Fpower%2Fr%2Fmop-coal_stock-pl-dl-aaa" TargetMode="Externa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ED75569-7577-BDFF-F012-938641AA05A4}"/>
              </a:ext>
            </a:extLst>
          </p:cNvPr>
          <p:cNvSpPr>
            <a:spLocks noGrp="1"/>
          </p:cNvSpPr>
          <p:nvPr>
            <p:ph type="ctrTitle"/>
          </p:nvPr>
        </p:nvSpPr>
        <p:spPr/>
        <p:txBody>
          <a:bodyPr/>
          <a:lstStyle/>
          <a:p>
            <a:r>
              <a:rPr lang="en-IN" dirty="0"/>
              <a:t>Daily Coal Stock</a:t>
            </a:r>
          </a:p>
        </p:txBody>
      </p:sp>
      <p:sp>
        <p:nvSpPr>
          <p:cNvPr id="3" name="Subtitle 2">
            <a:extLst>
              <a:ext uri="{FF2B5EF4-FFF2-40B4-BE49-F238E27FC236}">
                <a16:creationId xmlns:a16="http://schemas.microsoft.com/office/drawing/2014/main" id="{278FA729-205D-7335-DC86-45CFE0023F70}"/>
              </a:ext>
            </a:extLst>
          </p:cNvPr>
          <p:cNvSpPr>
            <a:spLocks noGrp="1"/>
          </p:cNvSpPr>
          <p:nvPr>
            <p:ph type="subTitle" idx="1"/>
          </p:nvPr>
        </p:nvSpPr>
        <p:spPr/>
        <p:txBody>
          <a:bodyPr/>
          <a:lstStyle/>
          <a:p>
            <a:r>
              <a:rPr lang="en-IN" dirty="0"/>
              <a:t>Domain: Sales </a:t>
            </a:r>
            <a:br>
              <a:rPr lang="en-IN" dirty="0"/>
            </a:br>
            <a:r>
              <a:rPr lang="en-IN" dirty="0"/>
              <a:t>Done by </a:t>
            </a:r>
            <a:r>
              <a:rPr lang="en-IN" dirty="0" err="1"/>
              <a:t>aNJANA</a:t>
            </a:r>
            <a:r>
              <a:rPr lang="en-IN" dirty="0"/>
              <a:t> C S</a:t>
            </a:r>
          </a:p>
        </p:txBody>
      </p:sp>
    </p:spTree>
    <p:extLst>
      <p:ext uri="{BB962C8B-B14F-4D97-AF65-F5344CB8AC3E}">
        <p14:creationId xmlns:p14="http://schemas.microsoft.com/office/powerpoint/2010/main" val="302557118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AB150C8-3CE1-A6D6-5674-8AFF0200ABD1}"/>
              </a:ext>
            </a:extLst>
          </p:cNvPr>
          <p:cNvSpPr>
            <a:spLocks noGrp="1"/>
          </p:cNvSpPr>
          <p:nvPr>
            <p:ph type="title"/>
          </p:nvPr>
        </p:nvSpPr>
        <p:spPr/>
        <p:txBody>
          <a:bodyPr/>
          <a:lstStyle/>
          <a:p>
            <a:r>
              <a:rPr lang="en-US" b="1" dirty="0"/>
              <a:t>Objective of the Project</a:t>
            </a:r>
            <a:br>
              <a:rPr lang="en-US" dirty="0"/>
            </a:br>
            <a:endParaRPr lang="en-IN" dirty="0"/>
          </a:p>
        </p:txBody>
      </p:sp>
      <p:sp>
        <p:nvSpPr>
          <p:cNvPr id="3" name="Content Placeholder 2">
            <a:extLst>
              <a:ext uri="{FF2B5EF4-FFF2-40B4-BE49-F238E27FC236}">
                <a16:creationId xmlns:a16="http://schemas.microsoft.com/office/drawing/2014/main" id="{B4D5448B-EEBC-2F83-4B9F-20279CF4706D}"/>
              </a:ext>
            </a:extLst>
          </p:cNvPr>
          <p:cNvSpPr>
            <a:spLocks noGrp="1"/>
          </p:cNvSpPr>
          <p:nvPr>
            <p:ph idx="1"/>
          </p:nvPr>
        </p:nvSpPr>
        <p:spPr/>
        <p:txBody>
          <a:bodyPr>
            <a:normAutofit fontScale="92500" lnSpcReduction="10000"/>
          </a:bodyPr>
          <a:lstStyle/>
          <a:p>
            <a:r>
              <a:rPr lang="en-US" dirty="0"/>
              <a:t>This dataset gives a complete operational snapshot of coal availability at power plants in India. It helps monitor:</a:t>
            </a:r>
          </a:p>
          <a:p>
            <a:r>
              <a:rPr lang="en-US" dirty="0"/>
              <a:t>Daily coal supply chain efficiency</a:t>
            </a:r>
          </a:p>
          <a:p>
            <a:r>
              <a:rPr lang="en-US" dirty="0"/>
              <a:t>Plant fuel security level</a:t>
            </a:r>
          </a:p>
          <a:p>
            <a:r>
              <a:rPr lang="en-US" dirty="0"/>
              <a:t>Power station performance (via PLF)</a:t>
            </a:r>
          </a:p>
          <a:p>
            <a:r>
              <a:rPr lang="en-US" dirty="0"/>
              <a:t>Stock adequacy vs normative standards</a:t>
            </a:r>
          </a:p>
          <a:p>
            <a:r>
              <a:rPr lang="en-US" dirty="0"/>
              <a:t>Identification of critical power </a:t>
            </a:r>
            <a:r>
              <a:rPr lang="en-US" dirty="0" err="1"/>
              <a:t>stationsm</a:t>
            </a:r>
            <a:endParaRPr lang="en-US" dirty="0"/>
          </a:p>
          <a:p>
            <a:r>
              <a:rPr lang="en-US" dirty="0"/>
              <a:t>Dependency on imported vs local coal</a:t>
            </a:r>
          </a:p>
          <a:p>
            <a:endParaRPr lang="en-IN" dirty="0"/>
          </a:p>
        </p:txBody>
      </p:sp>
    </p:spTree>
    <p:extLst>
      <p:ext uri="{BB962C8B-B14F-4D97-AF65-F5344CB8AC3E}">
        <p14:creationId xmlns:p14="http://schemas.microsoft.com/office/powerpoint/2010/main" val="330718182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9ABE8B8-011E-AE71-9405-EB14FFB8ABA2}"/>
              </a:ext>
            </a:extLst>
          </p:cNvPr>
          <p:cNvSpPr>
            <a:spLocks noGrp="1"/>
          </p:cNvSpPr>
          <p:nvPr>
            <p:ph type="title"/>
          </p:nvPr>
        </p:nvSpPr>
        <p:spPr/>
        <p:txBody>
          <a:bodyPr/>
          <a:lstStyle/>
          <a:p>
            <a:r>
              <a:rPr lang="en-IN" dirty="0"/>
              <a:t>Dataset details </a:t>
            </a:r>
          </a:p>
        </p:txBody>
      </p:sp>
      <p:sp>
        <p:nvSpPr>
          <p:cNvPr id="3" name="Content Placeholder 2">
            <a:extLst>
              <a:ext uri="{FF2B5EF4-FFF2-40B4-BE49-F238E27FC236}">
                <a16:creationId xmlns:a16="http://schemas.microsoft.com/office/drawing/2014/main" id="{918871C3-EF87-2C3F-64AC-1C0B32ED11EB}"/>
              </a:ext>
            </a:extLst>
          </p:cNvPr>
          <p:cNvSpPr>
            <a:spLocks noGrp="1"/>
          </p:cNvSpPr>
          <p:nvPr>
            <p:ph idx="1"/>
          </p:nvPr>
        </p:nvSpPr>
        <p:spPr/>
        <p:txBody>
          <a:bodyPr/>
          <a:lstStyle/>
          <a:p>
            <a:r>
              <a:rPr lang="en-US" dirty="0"/>
              <a:t>● Source URL: </a:t>
            </a:r>
            <a:r>
              <a:rPr lang="en-US" dirty="0">
                <a:hlinkClick r:id="rId2"/>
              </a:rPr>
              <a:t>https://indiadataportal.com/p/power/r/mop-coal_stock-pl-dl-aaa</a:t>
            </a:r>
            <a:endParaRPr lang="en-US" dirty="0"/>
          </a:p>
          <a:p>
            <a:r>
              <a:rPr lang="en-US" dirty="0"/>
              <a:t>● Data Type: CSV (Comma Separated Values)</a:t>
            </a:r>
          </a:p>
          <a:p>
            <a:r>
              <a:rPr lang="en-US" dirty="0"/>
              <a:t>● Number of Rows: 362036</a:t>
            </a:r>
          </a:p>
          <a:p>
            <a:r>
              <a:rPr lang="en-US" dirty="0"/>
              <a:t>● Number of Columns: 22</a:t>
            </a:r>
          </a:p>
          <a:p>
            <a:r>
              <a:rPr lang="en-US" dirty="0"/>
              <a:t>● Data Collected From: ISB India Data Portal</a:t>
            </a:r>
          </a:p>
          <a:p>
            <a:endParaRPr lang="en-IN" dirty="0"/>
          </a:p>
        </p:txBody>
      </p:sp>
    </p:spTree>
    <p:extLst>
      <p:ext uri="{BB962C8B-B14F-4D97-AF65-F5344CB8AC3E}">
        <p14:creationId xmlns:p14="http://schemas.microsoft.com/office/powerpoint/2010/main" val="195108928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2D86A93-8B1F-9F76-17D2-43A2021E6D0F}"/>
              </a:ext>
            </a:extLst>
          </p:cNvPr>
          <p:cNvSpPr>
            <a:spLocks noGrp="1"/>
          </p:cNvSpPr>
          <p:nvPr>
            <p:ph type="title"/>
          </p:nvPr>
        </p:nvSpPr>
        <p:spPr/>
        <p:txBody>
          <a:bodyPr/>
          <a:lstStyle/>
          <a:p>
            <a:r>
              <a:rPr lang="en-IN" dirty="0"/>
              <a:t>Problem-solving approach</a:t>
            </a:r>
          </a:p>
        </p:txBody>
      </p:sp>
      <p:sp>
        <p:nvSpPr>
          <p:cNvPr id="3" name="Content Placeholder 2">
            <a:extLst>
              <a:ext uri="{FF2B5EF4-FFF2-40B4-BE49-F238E27FC236}">
                <a16:creationId xmlns:a16="http://schemas.microsoft.com/office/drawing/2014/main" id="{93941769-4735-11B3-DAE3-6B688DE119EE}"/>
              </a:ext>
            </a:extLst>
          </p:cNvPr>
          <p:cNvSpPr>
            <a:spLocks noGrp="1"/>
          </p:cNvSpPr>
          <p:nvPr>
            <p:ph idx="1"/>
          </p:nvPr>
        </p:nvSpPr>
        <p:spPr/>
        <p:txBody>
          <a:bodyPr/>
          <a:lstStyle/>
          <a:p>
            <a:r>
              <a:rPr lang="en-US" dirty="0"/>
              <a:t>Data set collection from ISB India Data Portal</a:t>
            </a:r>
          </a:p>
          <a:p>
            <a:r>
              <a:rPr lang="en-US" dirty="0"/>
              <a:t>Data loading and initial overview</a:t>
            </a:r>
          </a:p>
          <a:p>
            <a:r>
              <a:rPr lang="en-US" dirty="0"/>
              <a:t> Data Pre-processing</a:t>
            </a:r>
          </a:p>
          <a:p>
            <a:r>
              <a:rPr lang="en-US" dirty="0"/>
              <a:t>Exploratory Data Analysis (EDA) and Visualizations</a:t>
            </a:r>
          </a:p>
          <a:p>
            <a:r>
              <a:rPr lang="en-US" dirty="0"/>
              <a:t>Insight Generation and Report</a:t>
            </a:r>
          </a:p>
          <a:p>
            <a:endParaRPr lang="en-IN" dirty="0"/>
          </a:p>
        </p:txBody>
      </p:sp>
    </p:spTree>
    <p:extLst>
      <p:ext uri="{BB962C8B-B14F-4D97-AF65-F5344CB8AC3E}">
        <p14:creationId xmlns:p14="http://schemas.microsoft.com/office/powerpoint/2010/main" val="281421927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0B1A6C5-5B7C-A674-EDFB-A0EFCDD06C4C}"/>
              </a:ext>
            </a:extLst>
          </p:cNvPr>
          <p:cNvSpPr>
            <a:spLocks noGrp="1"/>
          </p:cNvSpPr>
          <p:nvPr>
            <p:ph type="title"/>
          </p:nvPr>
        </p:nvSpPr>
        <p:spPr/>
        <p:txBody>
          <a:bodyPr/>
          <a:lstStyle/>
          <a:p>
            <a:r>
              <a:rPr lang="en-IN" b="1" dirty="0"/>
              <a:t>Tools &amp; Technologies</a:t>
            </a:r>
            <a:br>
              <a:rPr lang="en-IN" dirty="0"/>
            </a:br>
            <a:endParaRPr lang="en-IN" dirty="0"/>
          </a:p>
        </p:txBody>
      </p:sp>
      <p:sp>
        <p:nvSpPr>
          <p:cNvPr id="3" name="Content Placeholder 2">
            <a:extLst>
              <a:ext uri="{FF2B5EF4-FFF2-40B4-BE49-F238E27FC236}">
                <a16:creationId xmlns:a16="http://schemas.microsoft.com/office/drawing/2014/main" id="{703476F7-B007-714A-C81B-B587FBEF5CF6}"/>
              </a:ext>
            </a:extLst>
          </p:cNvPr>
          <p:cNvSpPr>
            <a:spLocks noGrp="1"/>
          </p:cNvSpPr>
          <p:nvPr>
            <p:ph idx="1"/>
          </p:nvPr>
        </p:nvSpPr>
        <p:spPr/>
        <p:txBody>
          <a:bodyPr/>
          <a:lstStyle/>
          <a:p>
            <a:pPr>
              <a:buFont typeface="Wingdings" panose="05000000000000000000" pitchFamily="2" charset="2"/>
              <a:buChar char="q"/>
            </a:pPr>
            <a:r>
              <a:rPr lang="en-IN" dirty="0"/>
              <a:t> Google </a:t>
            </a:r>
            <a:r>
              <a:rPr lang="en-IN" dirty="0" err="1"/>
              <a:t>Colab</a:t>
            </a:r>
            <a:r>
              <a:rPr lang="en-IN" dirty="0"/>
              <a:t> (Cloud-based Python environment)</a:t>
            </a:r>
          </a:p>
          <a:p>
            <a:pPr>
              <a:buFont typeface="Wingdings" panose="05000000000000000000" pitchFamily="2" charset="2"/>
              <a:buChar char="q"/>
            </a:pPr>
            <a:r>
              <a:rPr lang="en-IN" dirty="0"/>
              <a:t> Python Libraries:</a:t>
            </a:r>
          </a:p>
          <a:p>
            <a:r>
              <a:rPr lang="en-IN" dirty="0"/>
              <a:t>pandas → Data cleaning &amp; manipulation</a:t>
            </a:r>
          </a:p>
          <a:p>
            <a:r>
              <a:rPr lang="en-IN" dirty="0" err="1"/>
              <a:t>numpy</a:t>
            </a:r>
            <a:r>
              <a:rPr lang="en-IN" dirty="0"/>
              <a:t> → Numerical analysis</a:t>
            </a:r>
          </a:p>
          <a:p>
            <a:r>
              <a:rPr lang="en-IN" dirty="0"/>
              <a:t>matplotlib → Data visualization</a:t>
            </a:r>
          </a:p>
          <a:p>
            <a:r>
              <a:rPr lang="en-IN" dirty="0"/>
              <a:t>seaborn →  Advanced visualization</a:t>
            </a:r>
          </a:p>
          <a:p>
            <a:endParaRPr lang="en-IN" dirty="0"/>
          </a:p>
        </p:txBody>
      </p:sp>
    </p:spTree>
    <p:extLst>
      <p:ext uri="{BB962C8B-B14F-4D97-AF65-F5344CB8AC3E}">
        <p14:creationId xmlns:p14="http://schemas.microsoft.com/office/powerpoint/2010/main" val="233925177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4E88E34-7B9C-4A42-C090-7594614FF7AC}"/>
              </a:ext>
            </a:extLst>
          </p:cNvPr>
          <p:cNvSpPr>
            <a:spLocks noGrp="1"/>
          </p:cNvSpPr>
          <p:nvPr>
            <p:ph type="title"/>
          </p:nvPr>
        </p:nvSpPr>
        <p:spPr/>
        <p:txBody>
          <a:bodyPr/>
          <a:lstStyle/>
          <a:p>
            <a:r>
              <a:rPr lang="en-IN" b="1" i="1" dirty="0"/>
              <a:t> Data Pre-processing</a:t>
            </a:r>
            <a:endParaRPr lang="en-IN" dirty="0"/>
          </a:p>
        </p:txBody>
      </p:sp>
      <p:sp>
        <p:nvSpPr>
          <p:cNvPr id="3" name="Content Placeholder 2">
            <a:extLst>
              <a:ext uri="{FF2B5EF4-FFF2-40B4-BE49-F238E27FC236}">
                <a16:creationId xmlns:a16="http://schemas.microsoft.com/office/drawing/2014/main" id="{3A55869F-1766-2031-92D8-26D770EC7E90}"/>
              </a:ext>
            </a:extLst>
          </p:cNvPr>
          <p:cNvSpPr>
            <a:spLocks noGrp="1"/>
          </p:cNvSpPr>
          <p:nvPr>
            <p:ph idx="1"/>
          </p:nvPr>
        </p:nvSpPr>
        <p:spPr/>
        <p:txBody>
          <a:bodyPr/>
          <a:lstStyle/>
          <a:p>
            <a:r>
              <a:rPr lang="en-US" dirty="0"/>
              <a:t>Data pre-processing is an essential step in any data analysis workflow. It ensures the dataset is clean, consistent, and ready for deeper analysis. In this section, we perform several important operations to improve the quality of our data.</a:t>
            </a:r>
            <a:endParaRPr lang="en-IN" dirty="0"/>
          </a:p>
        </p:txBody>
      </p:sp>
    </p:spTree>
    <p:extLst>
      <p:ext uri="{BB962C8B-B14F-4D97-AF65-F5344CB8AC3E}">
        <p14:creationId xmlns:p14="http://schemas.microsoft.com/office/powerpoint/2010/main" val="18542000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4FEB493-6F5A-56BA-7FB5-81404F792E4D}"/>
              </a:ext>
            </a:extLst>
          </p:cNvPr>
          <p:cNvSpPr>
            <a:spLocks noGrp="1"/>
          </p:cNvSpPr>
          <p:nvPr>
            <p:ph type="title"/>
          </p:nvPr>
        </p:nvSpPr>
        <p:spPr/>
        <p:txBody>
          <a:bodyPr/>
          <a:lstStyle/>
          <a:p>
            <a:r>
              <a:rPr lang="en-US" b="1" i="1" dirty="0"/>
              <a:t>Exploratory Data Analysis (EDA) &amp; Visualizations</a:t>
            </a:r>
            <a:endParaRPr lang="en-IN" dirty="0"/>
          </a:p>
        </p:txBody>
      </p:sp>
      <p:sp>
        <p:nvSpPr>
          <p:cNvPr id="3" name="Content Placeholder 2">
            <a:extLst>
              <a:ext uri="{FF2B5EF4-FFF2-40B4-BE49-F238E27FC236}">
                <a16:creationId xmlns:a16="http://schemas.microsoft.com/office/drawing/2014/main" id="{67B896B4-E9A0-77E5-3303-B55DAF6282A6}"/>
              </a:ext>
            </a:extLst>
          </p:cNvPr>
          <p:cNvSpPr>
            <a:spLocks noGrp="1"/>
          </p:cNvSpPr>
          <p:nvPr>
            <p:ph idx="1"/>
          </p:nvPr>
        </p:nvSpPr>
        <p:spPr/>
        <p:txBody>
          <a:bodyPr/>
          <a:lstStyle/>
          <a:p>
            <a:r>
              <a:rPr lang="en-US" dirty="0"/>
              <a:t>Exploratory Data Analysis (EDA) is a critical step in understanding the structure, patterns, and relationships within a dataset. After preprocessing, EDA helps uncover meaningful insights using statistical summaries, comparisons, and visualizations. This section combines both descriptive analysis and graphical exploration.</a:t>
            </a:r>
            <a:endParaRPr lang="en-IN" dirty="0"/>
          </a:p>
        </p:txBody>
      </p:sp>
    </p:spTree>
    <p:extLst>
      <p:ext uri="{BB962C8B-B14F-4D97-AF65-F5344CB8AC3E}">
        <p14:creationId xmlns:p14="http://schemas.microsoft.com/office/powerpoint/2010/main" val="157119097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4A8A6CF-76C0-D6C0-0A69-26D9293C8729}"/>
              </a:ext>
            </a:extLst>
          </p:cNvPr>
          <p:cNvSpPr>
            <a:spLocks noGrp="1"/>
          </p:cNvSpPr>
          <p:nvPr>
            <p:ph type="title"/>
          </p:nvPr>
        </p:nvSpPr>
        <p:spPr/>
        <p:txBody>
          <a:bodyPr/>
          <a:lstStyle/>
          <a:p>
            <a:r>
              <a:rPr lang="en-US" b="1" dirty="0"/>
              <a:t>Key Findings and Analysis Summary</a:t>
            </a:r>
            <a:endParaRPr lang="en-IN" dirty="0"/>
          </a:p>
        </p:txBody>
      </p:sp>
      <p:sp>
        <p:nvSpPr>
          <p:cNvPr id="5" name="Content Placeholder 4">
            <a:extLst>
              <a:ext uri="{FF2B5EF4-FFF2-40B4-BE49-F238E27FC236}">
                <a16:creationId xmlns:a16="http://schemas.microsoft.com/office/drawing/2014/main" id="{F573E014-BEE1-F23E-4714-D6E2344BB621}"/>
              </a:ext>
            </a:extLst>
          </p:cNvPr>
          <p:cNvSpPr>
            <a:spLocks noGrp="1"/>
          </p:cNvSpPr>
          <p:nvPr>
            <p:ph idx="1"/>
          </p:nvPr>
        </p:nvSpPr>
        <p:spPr/>
        <p:txBody>
          <a:bodyPr>
            <a:normAutofit fontScale="85000" lnSpcReduction="10000"/>
          </a:bodyPr>
          <a:lstStyle/>
          <a:p>
            <a:r>
              <a:rPr lang="en-US" b="1" dirty="0"/>
              <a:t>Wide Operational Coverage</a:t>
            </a:r>
            <a:br>
              <a:rPr lang="en-US" dirty="0"/>
            </a:br>
            <a:r>
              <a:rPr lang="en-US" dirty="0"/>
              <a:t>The dataset spans </a:t>
            </a:r>
            <a:r>
              <a:rPr lang="en-US" b="1" dirty="0"/>
              <a:t>17 states and ~189 power stations</a:t>
            </a:r>
            <a:r>
              <a:rPr lang="en-US" dirty="0"/>
              <a:t>, giving a comprehensive view of coal availability and performance across India’s thermal power sector.</a:t>
            </a:r>
          </a:p>
          <a:p>
            <a:r>
              <a:rPr lang="en-US" b="1" dirty="0"/>
              <a:t>Stock vs. Normative Requirements</a:t>
            </a:r>
            <a:br>
              <a:rPr lang="en-US" dirty="0"/>
            </a:br>
            <a:r>
              <a:rPr lang="en-US" dirty="0"/>
              <a:t>Many observations show a </a:t>
            </a:r>
            <a:r>
              <a:rPr lang="en-US" b="1" dirty="0"/>
              <a:t>gap between actual coal stock and normative stock levels</a:t>
            </a:r>
            <a:r>
              <a:rPr lang="en-US" dirty="0"/>
              <a:t>, indicating that several power plants operate close to minimum safety thresholds, which increases supply-risk sensitivity.</a:t>
            </a:r>
          </a:p>
          <a:p>
            <a:r>
              <a:rPr lang="en-US" b="1" dirty="0"/>
              <a:t>Indigenous vs. Imported Coal Dependence</a:t>
            </a:r>
            <a:br>
              <a:rPr lang="en-US" dirty="0"/>
            </a:br>
            <a:r>
              <a:rPr lang="en-US" dirty="0"/>
              <a:t>Indigenous coal forms the </a:t>
            </a:r>
            <a:r>
              <a:rPr lang="en-US" b="1" dirty="0"/>
              <a:t>primary source of stock</a:t>
            </a:r>
            <a:r>
              <a:rPr lang="en-US" dirty="0"/>
              <a:t> for most stations, while imported coal is used selectively, suggesting cost optimization but also exposure to domestic supply disruptions.</a:t>
            </a:r>
            <a:endParaRPr lang="en-IN" dirty="0"/>
          </a:p>
        </p:txBody>
      </p:sp>
    </p:spTree>
    <p:extLst>
      <p:ext uri="{BB962C8B-B14F-4D97-AF65-F5344CB8AC3E}">
        <p14:creationId xmlns:p14="http://schemas.microsoft.com/office/powerpoint/2010/main" val="307868922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4F676F3A-CBE9-3882-E057-F625367CB082}"/>
              </a:ext>
            </a:extLst>
          </p:cNvPr>
          <p:cNvSpPr txBox="1"/>
          <p:nvPr/>
        </p:nvSpPr>
        <p:spPr>
          <a:xfrm>
            <a:off x="595901" y="811658"/>
            <a:ext cx="11034445" cy="5909310"/>
          </a:xfrm>
          <a:prstGeom prst="rect">
            <a:avLst/>
          </a:prstGeom>
          <a:noFill/>
        </p:spPr>
        <p:txBody>
          <a:bodyPr wrap="square" rtlCol="0">
            <a:spAutoFit/>
          </a:bodyPr>
          <a:lstStyle/>
          <a:p>
            <a:pPr marL="285750" indent="-285750">
              <a:buFont typeface="Arial" panose="020B0604020202020204" pitchFamily="34" charset="0"/>
              <a:buChar char="•"/>
            </a:pPr>
            <a:r>
              <a:rPr lang="en-US" b="1" dirty="0"/>
              <a:t>Coal Stock Days Variability</a:t>
            </a:r>
            <a:br>
              <a:rPr lang="en-US" dirty="0"/>
            </a:br>
            <a:r>
              <a:rPr lang="en-US" dirty="0"/>
              <a:t>Coal availability (measured in stock days) </a:t>
            </a:r>
            <a:r>
              <a:rPr lang="en-US" b="1" dirty="0"/>
              <a:t>varies significantly across plants and states</a:t>
            </a:r>
            <a:r>
              <a:rPr lang="en-US" dirty="0"/>
              <a:t>, reflecting uneven logistics, transport modes, and regional supply chain efficiency.</a:t>
            </a:r>
          </a:p>
          <a:p>
            <a:pPr marL="285750" indent="-285750">
              <a:buFont typeface="Arial" panose="020B0604020202020204" pitchFamily="34" charset="0"/>
              <a:buChar char="•"/>
            </a:pPr>
            <a:endParaRPr lang="en-US" dirty="0"/>
          </a:p>
          <a:p>
            <a:pPr marL="285750" indent="-285750">
              <a:buFont typeface="Arial" panose="020B0604020202020204" pitchFamily="34" charset="0"/>
              <a:buChar char="•"/>
            </a:pPr>
            <a:r>
              <a:rPr lang="en-US" b="1" dirty="0"/>
              <a:t>Power Generation Efficiency (PLF)</a:t>
            </a:r>
            <a:br>
              <a:rPr lang="en-US" dirty="0"/>
            </a:br>
            <a:r>
              <a:rPr lang="en-US" dirty="0"/>
              <a:t>The </a:t>
            </a:r>
            <a:r>
              <a:rPr lang="en-US" b="1" dirty="0"/>
              <a:t>average Plant Load Factor (PLF) is moderate (~64%)</a:t>
            </a:r>
            <a:r>
              <a:rPr lang="en-US" dirty="0"/>
              <a:t>, implying under-utilization of installed capacity, often linked to fuel availability constraints rather than infrastructure limitations.</a:t>
            </a:r>
          </a:p>
          <a:p>
            <a:pPr marL="285750" indent="-285750">
              <a:buFont typeface="Arial" panose="020B0604020202020204" pitchFamily="34" charset="0"/>
              <a:buChar char="•"/>
            </a:pPr>
            <a:endParaRPr lang="en-US" dirty="0"/>
          </a:p>
          <a:p>
            <a:pPr marL="285750" indent="-285750">
              <a:buFont typeface="Arial" panose="020B0604020202020204" pitchFamily="34" charset="0"/>
              <a:buChar char="•"/>
            </a:pPr>
            <a:r>
              <a:rPr lang="en-US" b="1" dirty="0"/>
              <a:t>Supply–Consumption Imbalance</a:t>
            </a:r>
            <a:br>
              <a:rPr lang="en-US" dirty="0"/>
            </a:br>
            <a:r>
              <a:rPr lang="en-US" dirty="0"/>
              <a:t>In several records, </a:t>
            </a:r>
            <a:r>
              <a:rPr lang="en-US" b="1" dirty="0"/>
              <a:t>daily consumption exceeds daily receipts</a:t>
            </a:r>
            <a:r>
              <a:rPr lang="en-US" dirty="0"/>
              <a:t>, which can lead to declining stock levels if sustained over time—an early warning signal for potential critical situations.</a:t>
            </a:r>
          </a:p>
          <a:p>
            <a:pPr marL="285750" indent="-285750">
              <a:buFont typeface="Arial" panose="020B0604020202020204" pitchFamily="34" charset="0"/>
              <a:buChar char="•"/>
            </a:pPr>
            <a:endParaRPr lang="en-US" dirty="0"/>
          </a:p>
          <a:p>
            <a:pPr marL="285750" indent="-285750">
              <a:buFont typeface="Arial" panose="020B0604020202020204" pitchFamily="34" charset="0"/>
              <a:buChar char="•"/>
            </a:pPr>
            <a:r>
              <a:rPr lang="en-US" b="1" dirty="0"/>
              <a:t>Sector and Utility Differences</a:t>
            </a:r>
            <a:br>
              <a:rPr lang="en-US" dirty="0"/>
            </a:br>
            <a:r>
              <a:rPr lang="en-US" dirty="0"/>
              <a:t>Performance and stock adequacy differ across </a:t>
            </a:r>
            <a:r>
              <a:rPr lang="en-US" b="1" dirty="0"/>
              <a:t>sectors (State, Central, Private)</a:t>
            </a:r>
            <a:r>
              <a:rPr lang="en-US" dirty="0"/>
              <a:t> and utilities, highlighting opportunities for best-practice replication from better-performing operators.</a:t>
            </a:r>
            <a:endParaRPr lang="en-IN" dirty="0"/>
          </a:p>
          <a:p>
            <a:pPr marL="285750" indent="-285750">
              <a:buFont typeface="Arial" panose="020B0604020202020204" pitchFamily="34" charset="0"/>
              <a:buChar char="•"/>
            </a:pPr>
            <a:endParaRPr lang="en-US" dirty="0"/>
          </a:p>
          <a:p>
            <a:pPr marL="285750" indent="-285750">
              <a:buFont typeface="Arial" panose="020B0604020202020204" pitchFamily="34" charset="0"/>
              <a:buChar char="•"/>
            </a:pPr>
            <a:endParaRPr lang="en-US" dirty="0"/>
          </a:p>
          <a:p>
            <a:pPr marL="285750" indent="-285750">
              <a:buFont typeface="Arial" panose="020B0604020202020204" pitchFamily="34" charset="0"/>
              <a:buChar char="•"/>
            </a:pPr>
            <a:endParaRPr lang="en-US" dirty="0"/>
          </a:p>
          <a:p>
            <a:pPr marL="285750" indent="-285750">
              <a:buFont typeface="Arial" panose="020B0604020202020204" pitchFamily="34" charset="0"/>
              <a:buChar char="•"/>
            </a:pPr>
            <a:endParaRPr lang="en-US" dirty="0"/>
          </a:p>
          <a:p>
            <a:endParaRPr lang="en-US" dirty="0"/>
          </a:p>
          <a:p>
            <a:endParaRPr lang="en-IN" dirty="0"/>
          </a:p>
        </p:txBody>
      </p:sp>
    </p:spTree>
    <p:extLst>
      <p:ext uri="{BB962C8B-B14F-4D97-AF65-F5344CB8AC3E}">
        <p14:creationId xmlns:p14="http://schemas.microsoft.com/office/powerpoint/2010/main" val="81424488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BA7E8BC-B601-E3FE-1FDE-E84850146B36}"/>
              </a:ext>
            </a:extLst>
          </p:cNvPr>
          <p:cNvSpPr>
            <a:spLocks noGrp="1"/>
          </p:cNvSpPr>
          <p:nvPr>
            <p:ph type="title"/>
          </p:nvPr>
        </p:nvSpPr>
        <p:spPr/>
        <p:txBody>
          <a:bodyPr/>
          <a:lstStyle/>
          <a:p>
            <a:r>
              <a:rPr lang="en-IN" b="1" dirty="0"/>
              <a:t>Significant Patterns &amp; Observations</a:t>
            </a:r>
            <a:br>
              <a:rPr lang="en-IN" dirty="0"/>
            </a:br>
            <a:endParaRPr lang="en-IN" dirty="0"/>
          </a:p>
        </p:txBody>
      </p:sp>
      <p:sp>
        <p:nvSpPr>
          <p:cNvPr id="3" name="Content Placeholder 2">
            <a:extLst>
              <a:ext uri="{FF2B5EF4-FFF2-40B4-BE49-F238E27FC236}">
                <a16:creationId xmlns:a16="http://schemas.microsoft.com/office/drawing/2014/main" id="{1FC23F17-5D16-64B6-4205-28C5111AD2F8}"/>
              </a:ext>
            </a:extLst>
          </p:cNvPr>
          <p:cNvSpPr>
            <a:spLocks noGrp="1"/>
          </p:cNvSpPr>
          <p:nvPr>
            <p:ph idx="1"/>
          </p:nvPr>
        </p:nvSpPr>
        <p:spPr/>
        <p:txBody>
          <a:bodyPr>
            <a:normAutofit fontScale="85000" lnSpcReduction="20000"/>
          </a:bodyPr>
          <a:lstStyle/>
          <a:p>
            <a:pPr>
              <a:buFont typeface="Wingdings" panose="05000000000000000000" pitchFamily="2" charset="2"/>
              <a:buChar char="q"/>
            </a:pPr>
            <a:r>
              <a:rPr lang="en-US" sz="2100" b="1" i="1" dirty="0"/>
              <a:t> State-wise and Plant-wise Variations</a:t>
            </a:r>
            <a:endParaRPr lang="en-US" sz="2100" dirty="0"/>
          </a:p>
          <a:p>
            <a:r>
              <a:rPr lang="en-US" dirty="0"/>
              <a:t>Coal stock levels vary significantly across states and power stations, indicating uneven supply and logistics performance.</a:t>
            </a:r>
          </a:p>
          <a:p>
            <a:pPr>
              <a:buFont typeface="Wingdings" panose="05000000000000000000" pitchFamily="2" charset="2"/>
              <a:buChar char="q"/>
            </a:pPr>
            <a:r>
              <a:rPr lang="en-US" sz="2100" b="1" i="1" dirty="0"/>
              <a:t> Critical Stock Conditions</a:t>
            </a:r>
            <a:endParaRPr lang="en-US" sz="2100" dirty="0"/>
          </a:p>
          <a:p>
            <a:r>
              <a:rPr lang="en-US" dirty="0"/>
              <a:t>A noticeable portion of power plants are marked as Critical, meaning their available coal stock is below the prescribed normative level. These plants are more vulnerable to supply disruptions and require immediate attention.</a:t>
            </a:r>
          </a:p>
          <a:p>
            <a:pPr>
              <a:buFont typeface="Wingdings" panose="05000000000000000000" pitchFamily="2" charset="2"/>
              <a:buChar char="q"/>
            </a:pPr>
            <a:r>
              <a:rPr lang="en-US" b="1" i="1" dirty="0"/>
              <a:t> Normative vs Actual Stock Gap</a:t>
            </a:r>
            <a:endParaRPr lang="en-US" dirty="0"/>
          </a:p>
          <a:p>
            <a:r>
              <a:rPr lang="en-US" dirty="0"/>
              <a:t>Several power stations show a negative deviation between actual stock and normative stock, highlighting supply-chain or transportation bottlenecks.</a:t>
            </a:r>
          </a:p>
          <a:p>
            <a:endParaRPr lang="en-IN" dirty="0"/>
          </a:p>
        </p:txBody>
      </p:sp>
    </p:spTree>
    <p:extLst>
      <p:ext uri="{BB962C8B-B14F-4D97-AF65-F5344CB8AC3E}">
        <p14:creationId xmlns:p14="http://schemas.microsoft.com/office/powerpoint/2010/main" val="224395899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DA99518-2F90-0BA4-F313-5263C0879AB5}"/>
              </a:ext>
            </a:extLst>
          </p:cNvPr>
          <p:cNvSpPr>
            <a:spLocks noGrp="1"/>
          </p:cNvSpPr>
          <p:nvPr>
            <p:ph type="title"/>
          </p:nvPr>
        </p:nvSpPr>
        <p:spPr>
          <a:xfrm>
            <a:off x="1145754" y="804519"/>
            <a:ext cx="9603274" cy="704792"/>
          </a:xfrm>
        </p:spPr>
        <p:txBody>
          <a:bodyPr>
            <a:normAutofit/>
          </a:bodyPr>
          <a:lstStyle/>
          <a:p>
            <a:r>
              <a:rPr lang="en-IN" b="1" dirty="0"/>
              <a:t>   Significant Patterns &amp; Observations</a:t>
            </a:r>
            <a:endParaRPr lang="en-IN" dirty="0"/>
          </a:p>
        </p:txBody>
      </p:sp>
      <p:sp>
        <p:nvSpPr>
          <p:cNvPr id="3" name="Content Placeholder 2">
            <a:extLst>
              <a:ext uri="{FF2B5EF4-FFF2-40B4-BE49-F238E27FC236}">
                <a16:creationId xmlns:a16="http://schemas.microsoft.com/office/drawing/2014/main" id="{8CE8999A-6572-97C7-6117-FD991B0AB2FB}"/>
              </a:ext>
            </a:extLst>
          </p:cNvPr>
          <p:cNvSpPr>
            <a:spLocks noGrp="1"/>
          </p:cNvSpPr>
          <p:nvPr>
            <p:ph idx="1"/>
          </p:nvPr>
        </p:nvSpPr>
        <p:spPr/>
        <p:txBody>
          <a:bodyPr/>
          <a:lstStyle/>
          <a:p>
            <a:pPr>
              <a:buFont typeface="Wingdings" panose="05000000000000000000" pitchFamily="2" charset="2"/>
              <a:buChar char="q"/>
            </a:pPr>
            <a:r>
              <a:rPr lang="en-US" b="1" i="1" dirty="0"/>
              <a:t> Mode of Transport Impact</a:t>
            </a:r>
            <a:endParaRPr lang="en-US" dirty="0"/>
          </a:p>
          <a:p>
            <a:r>
              <a:rPr lang="en-US" dirty="0"/>
              <a:t>Plants dependent on Rail or Rail–Sea transport show more variability in daily receipts, suggesting logistics constraints play a key role in stock availability.</a:t>
            </a:r>
          </a:p>
          <a:p>
            <a:pPr>
              <a:buFont typeface="Wingdings" panose="05000000000000000000" pitchFamily="2" charset="2"/>
              <a:buChar char="q"/>
            </a:pPr>
            <a:r>
              <a:rPr lang="en-US" b="1" i="1" dirty="0"/>
              <a:t> Sector Differences</a:t>
            </a:r>
            <a:endParaRPr lang="en-US" dirty="0"/>
          </a:p>
          <a:p>
            <a:r>
              <a:rPr lang="en-US" dirty="0"/>
              <a:t>Differences were observed between State Sector and Private Sector plants in terms of stock adequacy and criticality, with state-owned plants appearing more frequently in critical conditions.</a:t>
            </a:r>
          </a:p>
          <a:p>
            <a:endParaRPr lang="en-IN" dirty="0"/>
          </a:p>
        </p:txBody>
      </p:sp>
    </p:spTree>
    <p:extLst>
      <p:ext uri="{BB962C8B-B14F-4D97-AF65-F5344CB8AC3E}">
        <p14:creationId xmlns:p14="http://schemas.microsoft.com/office/powerpoint/2010/main" val="237608202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BAB1426-69F5-53F5-2F58-1F98C95F572D}"/>
              </a:ext>
            </a:extLst>
          </p:cNvPr>
          <p:cNvSpPr>
            <a:spLocks noGrp="1"/>
          </p:cNvSpPr>
          <p:nvPr>
            <p:ph type="title"/>
          </p:nvPr>
        </p:nvSpPr>
        <p:spPr/>
        <p:txBody>
          <a:bodyPr/>
          <a:lstStyle/>
          <a:p>
            <a:r>
              <a:rPr lang="en-IN" b="1" dirty="0"/>
              <a:t>Conclusion</a:t>
            </a:r>
            <a:endParaRPr lang="en-IN" dirty="0"/>
          </a:p>
        </p:txBody>
      </p:sp>
      <p:sp>
        <p:nvSpPr>
          <p:cNvPr id="3" name="Content Placeholder 2">
            <a:extLst>
              <a:ext uri="{FF2B5EF4-FFF2-40B4-BE49-F238E27FC236}">
                <a16:creationId xmlns:a16="http://schemas.microsoft.com/office/drawing/2014/main" id="{DD01E09A-6F5F-531E-D0BB-1361A3B670A5}"/>
              </a:ext>
            </a:extLst>
          </p:cNvPr>
          <p:cNvSpPr>
            <a:spLocks noGrp="1"/>
          </p:cNvSpPr>
          <p:nvPr>
            <p:ph idx="1"/>
          </p:nvPr>
        </p:nvSpPr>
        <p:spPr/>
        <p:txBody>
          <a:bodyPr/>
          <a:lstStyle/>
          <a:p>
            <a:r>
              <a:rPr lang="en-US" dirty="0"/>
              <a:t>The analysis reveals that while coal supply is largely sustained through indigenous sources, </a:t>
            </a:r>
            <a:r>
              <a:rPr lang="en-US" b="1" dirty="0"/>
              <a:t>stock adequacy and logistics efficiency remain uneven across states and power stations</a:t>
            </a:r>
            <a:r>
              <a:rPr lang="en-US" dirty="0"/>
              <a:t>. Moderate PLF values and recurring gaps between actual and normative stock levels suggest that fuel availability remains</a:t>
            </a:r>
            <a:r>
              <a:rPr lang="en-US" b="1" dirty="0"/>
              <a:t> a limiting factor for optimal power generation</a:t>
            </a:r>
            <a:r>
              <a:rPr lang="en-US" dirty="0"/>
              <a:t>. Overall, the dataset provides strong evidence that proactive coal stock monitoring is essential for maintaining grid reliability.</a:t>
            </a:r>
            <a:endParaRPr lang="en-IN" dirty="0"/>
          </a:p>
        </p:txBody>
      </p:sp>
    </p:spTree>
    <p:extLst>
      <p:ext uri="{BB962C8B-B14F-4D97-AF65-F5344CB8AC3E}">
        <p14:creationId xmlns:p14="http://schemas.microsoft.com/office/powerpoint/2010/main" val="3531271881"/>
      </p:ext>
    </p:extLst>
  </p:cSld>
  <p:clrMapOvr>
    <a:masterClrMapping/>
  </p:clrMapOvr>
</p:sld>
</file>

<file path=ppt/theme/theme1.xml><?xml version="1.0" encoding="utf-8"?>
<a:theme xmlns:a="http://schemas.openxmlformats.org/drawingml/2006/main" name="Gallery">
  <a:themeElements>
    <a:clrScheme name="Gallery">
      <a:dk1>
        <a:sysClr val="windowText" lastClr="000000"/>
      </a:dk1>
      <a:lt1>
        <a:sysClr val="window" lastClr="FFFFFF"/>
      </a:lt1>
      <a:dk2>
        <a:srgbClr val="454545"/>
      </a:dk2>
      <a:lt2>
        <a:srgbClr val="DFDBD5"/>
      </a:lt2>
      <a:accent1>
        <a:srgbClr val="B71E42"/>
      </a:accent1>
      <a:accent2>
        <a:srgbClr val="DE478E"/>
      </a:accent2>
      <a:accent3>
        <a:srgbClr val="BC72F0"/>
      </a:accent3>
      <a:accent4>
        <a:srgbClr val="795FAF"/>
      </a:accent4>
      <a:accent5>
        <a:srgbClr val="586EA6"/>
      </a:accent5>
      <a:accent6>
        <a:srgbClr val="6892A0"/>
      </a:accent6>
      <a:hlink>
        <a:srgbClr val="FA2B5C"/>
      </a:hlink>
      <a:folHlink>
        <a:srgbClr val="BC658E"/>
      </a:folHlink>
    </a:clrScheme>
    <a:fontScheme name="Gallery">
      <a:majorFont>
        <a:latin typeface="Gill Sans MT" panose="020B0502020104020203"/>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Gill Sans MT" panose="020B0502020104020203"/>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Gallery">
      <a:fillStyleLst>
        <a:solidFill>
          <a:schemeClr val="phClr"/>
        </a:solidFill>
        <a:gradFill rotWithShape="1">
          <a:gsLst>
            <a:gs pos="0">
              <a:schemeClr val="phClr">
                <a:tint val="54000"/>
                <a:alpha val="100000"/>
                <a:satMod val="105000"/>
                <a:lumMod val="110000"/>
              </a:schemeClr>
            </a:gs>
            <a:gs pos="100000">
              <a:schemeClr val="phClr">
                <a:tint val="78000"/>
                <a:alpha val="92000"/>
                <a:satMod val="109000"/>
                <a:lumMod val="100000"/>
              </a:schemeClr>
            </a:gs>
          </a:gsLst>
          <a:lin ang="5400000" scaled="0"/>
        </a:gradFill>
        <a:gradFill rotWithShape="1">
          <a:gsLst>
            <a:gs pos="0">
              <a:schemeClr val="phClr">
                <a:tint val="98000"/>
                <a:satMod val="110000"/>
                <a:lumMod val="104000"/>
              </a:schemeClr>
            </a:gs>
            <a:gs pos="69000">
              <a:schemeClr val="phClr">
                <a:shade val="88000"/>
                <a:satMod val="130000"/>
                <a:lumMod val="92000"/>
              </a:schemeClr>
            </a:gs>
            <a:gs pos="100000">
              <a:schemeClr val="phClr">
                <a:shade val="78000"/>
                <a:satMod val="130000"/>
                <a:lumMod val="92000"/>
              </a:schemeClr>
            </a:gs>
          </a:gsLst>
          <a:lin ang="5400000" scaled="0"/>
        </a:gradFill>
      </a:fillStyleLst>
      <a:lnStyleLst>
        <a:ln w="9525" cap="flat" cmpd="sng" algn="ctr">
          <a:solidFill>
            <a:schemeClr val="phClr"/>
          </a:solidFill>
          <a:prstDash val="solid"/>
        </a:ln>
        <a:ln w="15875" cap="flat" cmpd="sng" algn="ctr">
          <a:solidFill>
            <a:schemeClr val="phClr"/>
          </a:solidFill>
          <a:prstDash val="solid"/>
        </a:ln>
        <a:ln w="22225" cap="flat" cmpd="sng" algn="ctr">
          <a:solidFill>
            <a:schemeClr val="phClr"/>
          </a:solidFill>
          <a:prstDash val="solid"/>
        </a:ln>
      </a:lnStyleLst>
      <a:effectStyleLst>
        <a:effectStyle>
          <a:effectLst/>
        </a:effectStyle>
        <a:effectStyle>
          <a:effectLst/>
        </a:effectStyle>
        <a:effectStyle>
          <a:effectLst>
            <a:outerShdw blurRad="50800" dist="50800" dir="5400000" sx="96000" sy="96000" rotWithShape="0">
              <a:srgbClr val="000000">
                <a:alpha val="48000"/>
              </a:srgbClr>
            </a:outerShdw>
          </a:effectLst>
          <a:scene3d>
            <a:camera prst="orthographicFront">
              <a:rot lat="0" lon="0" rev="0"/>
            </a:camera>
            <a:lightRig rig="balanced" dir="t">
              <a:rot lat="0" lon="0" rev="1080000"/>
            </a:lightRig>
          </a:scene3d>
          <a:sp3d>
            <a:bevelT w="38100" h="12700" prst="softRound"/>
          </a:sp3d>
        </a:effectStyle>
      </a:effectStyleLst>
      <a:bgFillStyleLst>
        <a:solidFill>
          <a:schemeClr val="phClr"/>
        </a:solidFill>
        <a:solidFill>
          <a:schemeClr val="phClr"/>
        </a:solidFill>
        <a:gradFill rotWithShape="1">
          <a:gsLst>
            <a:gs pos="0">
              <a:schemeClr val="phClr">
                <a:tint val="94000"/>
                <a:satMod val="80000"/>
                <a:lumMod val="106000"/>
              </a:schemeClr>
            </a:gs>
            <a:gs pos="100000">
              <a:schemeClr val="phClr">
                <a:shade val="80000"/>
              </a:schemeClr>
            </a:gs>
          </a:gsLst>
          <a:path path="circle">
            <a:fillToRect l="43000" r="43000" b="100000"/>
          </a:path>
        </a:gradFill>
      </a:bgFillStyleLst>
    </a:fmtScheme>
  </a:themeElements>
  <a:objectDefaults/>
  <a:extraClrSchemeLst/>
  <a:extLst>
    <a:ext uri="{05A4C25C-085E-4340-85A3-A5531E510DB2}">
      <thm15:themeFamily xmlns:thm15="http://schemas.microsoft.com/office/thememl/2012/main" name="Gallery" id="{BBFCD31E-59A1-489D-B089-A3EAD7CAE12E}" vid="{F5E91637-A7B6-4E27-B710-77DA7014EE1E}"/>
    </a:ext>
  </a:extLst>
</a:theme>
</file>

<file path=docProps/app.xml><?xml version="1.0" encoding="utf-8"?>
<Properties xmlns="http://schemas.openxmlformats.org/officeDocument/2006/extended-properties" xmlns:vt="http://schemas.openxmlformats.org/officeDocument/2006/docPropsVTypes">
  <Template>Gallery</Template>
  <TotalTime>2677</TotalTime>
  <Words>770</Words>
  <Application>Microsoft Office PowerPoint</Application>
  <PresentationFormat>Widescreen</PresentationFormat>
  <Paragraphs>62</Paragraphs>
  <Slides>12</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12</vt:i4>
      </vt:variant>
    </vt:vector>
  </HeadingPairs>
  <TitlesOfParts>
    <vt:vector size="16" baseType="lpstr">
      <vt:lpstr>Arial</vt:lpstr>
      <vt:lpstr>Gill Sans MT</vt:lpstr>
      <vt:lpstr>Wingdings</vt:lpstr>
      <vt:lpstr>Gallery</vt:lpstr>
      <vt:lpstr>Daily Coal Stock</vt:lpstr>
      <vt:lpstr>Objective of the Project </vt:lpstr>
      <vt:lpstr>Dataset details </vt:lpstr>
      <vt:lpstr>Problem-solving approach</vt:lpstr>
      <vt:lpstr>Tools &amp; Technologies </vt:lpstr>
      <vt:lpstr> Data Pre-processing</vt:lpstr>
      <vt:lpstr>Exploratory Data Analysis (EDA) &amp; Visualizations</vt:lpstr>
      <vt:lpstr>Key Findings and Analysis Summary</vt:lpstr>
      <vt:lpstr>PowerPoint Presentation</vt:lpstr>
      <vt:lpstr>Significant Patterns &amp; Observations </vt:lpstr>
      <vt:lpstr>   Significant Patterns &amp; Observations</vt:lpstr>
      <vt:lpstr>Conclusion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APPUS CS</dc:creator>
  <cp:lastModifiedBy>APPUS CS</cp:lastModifiedBy>
  <cp:revision>3</cp:revision>
  <dcterms:created xsi:type="dcterms:W3CDTF">2025-12-25T17:45:48Z</dcterms:created>
  <dcterms:modified xsi:type="dcterms:W3CDTF">2026-01-08T11:21:18Z</dcterms:modified>
</cp:coreProperties>
</file>